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8"/>
  </p:notesMasterIdLst>
  <p:handoutMasterIdLst>
    <p:handoutMasterId r:id="rId9"/>
  </p:handoutMasterIdLst>
  <p:sldIdLst>
    <p:sldId id="256" r:id="rId5"/>
    <p:sldId id="293" r:id="rId6"/>
    <p:sldId id="29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5388" autoAdjust="0"/>
  </p:normalViewPr>
  <p:slideViewPr>
    <p:cSldViewPr snapToGrid="0" showGuides="1">
      <p:cViewPr varScale="1">
        <p:scale>
          <a:sx n="105" d="100"/>
          <a:sy n="105" d="100"/>
        </p:scale>
        <p:origin x="828" y="114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quanda, Shannon" userId="e64dbf6d-1995-494f-8ebf-55137ca7220c" providerId="ADAL" clId="{FCA158D3-C5E6-4541-8EDB-2C0B4321DADF}"/>
    <pc:docChg chg="undo redo custSel modSld">
      <pc:chgData name="Squanda, Shannon" userId="e64dbf6d-1995-494f-8ebf-55137ca7220c" providerId="ADAL" clId="{FCA158D3-C5E6-4541-8EDB-2C0B4321DADF}" dt="2025-09-18T13:22:05.598" v="173" actId="313"/>
      <pc:docMkLst>
        <pc:docMk/>
      </pc:docMkLst>
      <pc:sldChg chg="modSp mod">
        <pc:chgData name="Squanda, Shannon" userId="e64dbf6d-1995-494f-8ebf-55137ca7220c" providerId="ADAL" clId="{FCA158D3-C5E6-4541-8EDB-2C0B4321DADF}" dt="2025-09-18T13:20:08.582" v="172" actId="20577"/>
        <pc:sldMkLst>
          <pc:docMk/>
          <pc:sldMk cId="3695820081" sldId="293"/>
        </pc:sldMkLst>
        <pc:spChg chg="mod">
          <ac:chgData name="Squanda, Shannon" userId="e64dbf6d-1995-494f-8ebf-55137ca7220c" providerId="ADAL" clId="{FCA158D3-C5E6-4541-8EDB-2C0B4321DADF}" dt="2025-09-18T13:20:08.582" v="172" actId="20577"/>
          <ac:spMkLst>
            <pc:docMk/>
            <pc:sldMk cId="3695820081" sldId="293"/>
            <ac:spMk id="5" creationId="{F4807D8A-B262-35C2-740F-C4C1DCE3330E}"/>
          </ac:spMkLst>
        </pc:spChg>
      </pc:sldChg>
      <pc:sldChg chg="modSp mod">
        <pc:chgData name="Squanda, Shannon" userId="e64dbf6d-1995-494f-8ebf-55137ca7220c" providerId="ADAL" clId="{FCA158D3-C5E6-4541-8EDB-2C0B4321DADF}" dt="2025-09-18T13:22:05.598" v="173" actId="313"/>
        <pc:sldMkLst>
          <pc:docMk/>
          <pc:sldMk cId="3257667217" sldId="297"/>
        </pc:sldMkLst>
        <pc:spChg chg="mod">
          <ac:chgData name="Squanda, Shannon" userId="e64dbf6d-1995-494f-8ebf-55137ca7220c" providerId="ADAL" clId="{FCA158D3-C5E6-4541-8EDB-2C0B4321DADF}" dt="2025-09-18T13:22:05.598" v="173" actId="313"/>
          <ac:spMkLst>
            <pc:docMk/>
            <pc:sldMk cId="3257667217" sldId="297"/>
            <ac:spMk id="2" creationId="{00817346-FDFE-4698-506B-26E4847AECB1}"/>
          </ac:spMkLst>
        </pc:spChg>
        <pc:spChg chg="mod">
          <ac:chgData name="Squanda, Shannon" userId="e64dbf6d-1995-494f-8ebf-55137ca7220c" providerId="ADAL" clId="{FCA158D3-C5E6-4541-8EDB-2C0B4321DADF}" dt="2025-09-18T13:19:39.450" v="162" actId="20577"/>
          <ac:spMkLst>
            <pc:docMk/>
            <pc:sldMk cId="3257667217" sldId="297"/>
            <ac:spMk id="10" creationId="{B0F1ABB7-D9C8-8904-DD7A-6B77612AFD7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E5A2-0CA4-421A-FFB5-0F6B93C74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82B39-1F39-EA39-82EF-DC0FC99D9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DBDF5-67C8-AE90-E03F-93FEDD35E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D5FFA-BC4A-D1BA-9F22-0F14E64C8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74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5" r:id="rId1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Michigan earned sick time act (ESTA)</a:t>
            </a:r>
          </a:p>
        </p:txBody>
      </p:sp>
      <p:pic>
        <p:nvPicPr>
          <p:cNvPr id="10" name="Picture Placeholder 9" descr="A stethoscope on a clipboard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8164" b="28164"/>
          <a:stretch/>
        </p:blipFill>
        <p:spPr/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Rectangle 2071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u="sng" dirty="0"/>
              <a:t>Qualified</a:t>
            </a:r>
            <a:r>
              <a:rPr lang="en-US" dirty="0"/>
              <a:t> reasons for using earned sick time</a:t>
            </a:r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6" name="Rectangle 2085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Michigan's Earned Sick Time Act (ESTA ...">
            <a:extLst>
              <a:ext uri="{FF2B5EF4-FFF2-40B4-BE49-F238E27FC236}">
                <a16:creationId xmlns:a16="http://schemas.microsoft.com/office/drawing/2014/main" id="{EB74A351-3CC7-4033-E189-48A179FD56DF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34" b="2"/>
          <a:stretch>
            <a:fillRect/>
          </a:stretch>
        </p:blipFill>
        <p:spPr bwMode="auto">
          <a:xfrm>
            <a:off x="827478" y="2499053"/>
            <a:ext cx="4655180" cy="340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5805" y="2180496"/>
            <a:ext cx="5275001" cy="4045683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buFont typeface="Wingdings 2" panose="05020102010507070707" pitchFamily="18" charset="2"/>
              <a:buChar char=""/>
            </a:pPr>
            <a:r>
              <a:rPr lang="en-US" dirty="0"/>
              <a:t>To care for or seek treatment for one’s own physical or mental illness, health condition, or injury</a:t>
            </a:r>
          </a:p>
          <a:p>
            <a:pPr>
              <a:buFont typeface="Wingdings 2" panose="05020102010507070707" pitchFamily="18" charset="2"/>
              <a:buChar char=""/>
            </a:pPr>
            <a:r>
              <a:rPr lang="en-US" dirty="0"/>
              <a:t>To provide care or seek treatment for a family member’s physical and mental illness, injury, or health condition</a:t>
            </a:r>
          </a:p>
          <a:p>
            <a:pPr>
              <a:buFont typeface="Wingdings 2" panose="05020102010507070707" pitchFamily="18" charset="2"/>
              <a:buChar char=""/>
            </a:pPr>
            <a:r>
              <a:rPr lang="en-US" dirty="0"/>
              <a:t>To attend a meeting at a child’s school to address a child’s health, disability, or effects of domestic violence or sexual assault on the child</a:t>
            </a:r>
          </a:p>
          <a:p>
            <a:pPr>
              <a:buFont typeface="Wingdings 2" panose="05020102010507070707" pitchFamily="18" charset="2"/>
              <a:buChar char=""/>
            </a:pPr>
            <a:r>
              <a:rPr lang="en-US" dirty="0"/>
              <a:t>To address the closure of your workplace due to a public health emergency or to care for a child whose school is closed because of a public health emergency</a:t>
            </a:r>
          </a:p>
          <a:p>
            <a:pPr>
              <a:buFont typeface="Wingdings 2" panose="05020102010507070707" pitchFamily="18" charset="2"/>
              <a:buChar char=""/>
            </a:pPr>
            <a:r>
              <a:rPr lang="en-US" dirty="0"/>
              <a:t>To address issues arising from acts of violence, assault, or sexual assault for yourself or a family member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07D8A-B262-35C2-740F-C4C1DCE3330E}"/>
              </a:ext>
            </a:extLst>
          </p:cNvPr>
          <p:cNvSpPr txBox="1"/>
          <p:nvPr/>
        </p:nvSpPr>
        <p:spPr>
          <a:xfrm>
            <a:off x="365340" y="6360070"/>
            <a:ext cx="106918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*Michigan ESTA defines “Family Member” as follows: a biological, adopted, or foster child, a stepchild, a grandparent, a spouse, a biological, foster or adopted sibling, a parent</a:t>
            </a:r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6512E-A0C9-22DA-3572-95B29F70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Rectangle 2105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08" name="Rectangle 2107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10" name="Rectangle 2109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12" name="Rectangle 2111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4" name="Rectangle 2113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17346-FDFE-4698-506B-26E4847A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822" y="938022"/>
            <a:ext cx="6658013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u="sng" dirty="0">
                <a:solidFill>
                  <a:srgbClr val="FFFFFF"/>
                </a:solidFill>
              </a:rPr>
              <a:t>Unqualified</a:t>
            </a:r>
            <a:r>
              <a:rPr lang="en-US" dirty="0">
                <a:solidFill>
                  <a:srgbClr val="FFFFFF"/>
                </a:solidFill>
              </a:rPr>
              <a:t> reasons for using earned sick time</a:t>
            </a:r>
          </a:p>
        </p:txBody>
      </p:sp>
      <p:sp>
        <p:nvSpPr>
          <p:cNvPr id="2116" name="Rectangle 2115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20" name="Rectangle 2119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50" name="Picture 2" descr="Michigan's Earned Sick Time Act (ESTA ...">
            <a:extLst>
              <a:ext uri="{FF2B5EF4-FFF2-40B4-BE49-F238E27FC236}">
                <a16:creationId xmlns:a16="http://schemas.microsoft.com/office/drawing/2014/main" id="{72061ED5-AAE0-DA05-9ECE-15E65CE4004B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34" b="2"/>
          <a:stretch>
            <a:fillRect/>
          </a:stretch>
        </p:blipFill>
        <p:spPr bwMode="auto">
          <a:xfrm>
            <a:off x="774700" y="2459234"/>
            <a:ext cx="3053422" cy="2233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F1ABB7-D9C8-8904-DD7A-6B77612AF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02822" y="2340864"/>
            <a:ext cx="6658013" cy="37932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Taking your pet to the veterinarian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Picking up a child early from school for a non health related issue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Vacation or personal time not related to health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Transportation or commuting problems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Tardiness or leaving early without medical justification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Seeking employment elsewhere or interviewing for a new job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Attending a family event like a reunion or birthday party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rgbClr val="FFFFFF"/>
                </a:solidFill>
              </a:rPr>
              <a:t>Caring for someone who is not a qualified family member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Char char=""/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67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{1FB7A49D-FA63-45BF-B294-006FD7DFB047}TF44327b14-72fa-4a42-8e82-8afcf10927fa9096c001_win32-283260f3ca19</Template>
  <TotalTime>32</TotalTime>
  <Words>246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Gill Sans MT</vt:lpstr>
      <vt:lpstr>Wingdings 2</vt:lpstr>
      <vt:lpstr>DividendVTI</vt:lpstr>
      <vt:lpstr>Michigan earned sick time act (ESTA)</vt:lpstr>
      <vt:lpstr>Qualified reasons for using earned sick time</vt:lpstr>
      <vt:lpstr>Unqualified reasons for using earned sick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Squanda, Shannon</dc:creator>
  <cp:lastModifiedBy>Squanda, Shannon</cp:lastModifiedBy>
  <cp:revision>1</cp:revision>
  <dcterms:created xsi:type="dcterms:W3CDTF">2025-09-18T12:49:19Z</dcterms:created>
  <dcterms:modified xsi:type="dcterms:W3CDTF">2025-09-18T13:22:08Z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